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267" r:id="rId2"/>
    <p:sldId id="256" r:id="rId3"/>
    <p:sldId id="257" r:id="rId4"/>
    <p:sldId id="258" r:id="rId5"/>
    <p:sldId id="259" r:id="rId6"/>
    <p:sldId id="260" r:id="rId7"/>
    <p:sldId id="268" r:id="rId8"/>
    <p:sldId id="261" r:id="rId9"/>
    <p:sldId id="262" r:id="rId10"/>
    <p:sldId id="263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8" roundtripDataSignature="AMtx7miSDQCotp9PStJ2EN6RiZbhqYds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CC35"/>
    <a:srgbClr val="2E5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CDEC8F-6DC2-42C6-9243-4469F29CBC45}">
  <a:tblStyle styleId="{34CDEC8F-6DC2-42C6-9243-4469F29CBC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346601" y="365700"/>
            <a:ext cx="11498833" cy="6126600"/>
          </a:xfrm>
          <a:custGeom>
            <a:avLst/>
            <a:gdLst/>
            <a:ahLst/>
            <a:cxnLst/>
            <a:rect l="l" t="t" r="r" b="b"/>
            <a:pathLst>
              <a:path w="344965" h="183798" extrusionOk="0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w="76200" cap="flat" cmpd="sng">
            <a:solidFill>
              <a:srgbClr val="FF9E00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322200" y="122088"/>
            <a:ext cx="3547600" cy="97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1121300" y="1274672"/>
            <a:ext cx="4829200" cy="3954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⊡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241404" y="1274672"/>
            <a:ext cx="4829200" cy="3954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⊡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-167" y="6492300"/>
            <a:ext cx="121920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ctr"/>
            <a:fld id="{00000000-1234-1234-1234-123412341234}" type="slidenum">
              <a:rPr lang="en" smtClean="0"/>
              <a:pPr algn="ct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480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">
            <a:extLst>
              <a:ext uri="{FF2B5EF4-FFF2-40B4-BE49-F238E27FC236}">
                <a16:creationId xmlns:a16="http://schemas.microsoft.com/office/drawing/2014/main" id="{801AC248-9FC9-42B7-806A-47865A58230B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400"/>
            </a:pPr>
            <a:r>
              <a:rPr lang="en-SG" sz="5400"/>
              <a:t>Internship Experience</a:t>
            </a:r>
            <a:endParaRPr lang="en-SG" dirty="0"/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EB9F6980-BAF5-46C9-BECF-4EFBD5395871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SzPts val="2400"/>
              <a:buFont typeface="Arial"/>
              <a:buNone/>
            </a:pPr>
            <a:br>
              <a:rPr lang="en-SG" dirty="0"/>
            </a:br>
            <a:r>
              <a:rPr lang="en-SG" dirty="0"/>
              <a:t>First Assessment</a:t>
            </a:r>
            <a:br>
              <a:rPr lang="en-SG" dirty="0"/>
            </a:br>
            <a:r>
              <a:rPr lang="en-SG" dirty="0"/>
              <a:t>Name: Ang Zi </a:t>
            </a:r>
            <a:r>
              <a:rPr lang="en-SG" dirty="0" err="1"/>
              <a:t>Jun,</a:t>
            </a:r>
            <a:r>
              <a:rPr lang="en-SG" dirty="0"/>
              <a:t> Jeremy</a:t>
            </a:r>
          </a:p>
        </p:txBody>
      </p:sp>
      <p:pic>
        <p:nvPicPr>
          <p:cNvPr id="7" name="Google Shape;86;p1">
            <a:extLst>
              <a:ext uri="{FF2B5EF4-FFF2-40B4-BE49-F238E27FC236}">
                <a16:creationId xmlns:a16="http://schemas.microsoft.com/office/drawing/2014/main" id="{E95DA7F1-1CF9-4792-8DCC-8358DE46B4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7920" y="1314397"/>
            <a:ext cx="4647414" cy="976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364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Agenda</a:t>
            </a:r>
            <a:endParaRPr/>
          </a:p>
        </p:txBody>
      </p:sp>
      <p:sp>
        <p:nvSpPr>
          <p:cNvPr id="85" name="Google Shape;85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SG" sz="2400"/>
              <a:t>Company background</a:t>
            </a:r>
            <a:endParaRPr sz="400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SG" sz="2400"/>
              <a:t>Introduction to Department</a:t>
            </a:r>
            <a:endParaRPr sz="400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SG" sz="2400"/>
              <a:t>Team role</a:t>
            </a:r>
            <a:endParaRPr sz="400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SG" sz="2400"/>
              <a:t>Internship role and project</a:t>
            </a:r>
            <a:endParaRPr sz="400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SG" sz="2400"/>
              <a:t>Self-reflection</a:t>
            </a:r>
            <a:endParaRPr sz="400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SG" sz="2400"/>
              <a:t>Q&amp;A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SG" sz="2590" dirty="0"/>
              <a:t>OCBC Bank is the longest established Singapore bank, formed in 1932.</a:t>
            </a:r>
            <a:br>
              <a:rPr lang="en-SG" sz="2590" dirty="0"/>
            </a:br>
            <a:endParaRPr dirty="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SG" sz="2590" dirty="0"/>
              <a:t>It is now the second largest financial services group in Southeast Asia by assets.</a:t>
            </a:r>
            <a:br>
              <a:rPr lang="en-SG" sz="2590" dirty="0"/>
            </a:br>
            <a:endParaRPr dirty="0"/>
          </a:p>
          <a:p>
            <a:pPr marL="514350" lvl="0" indent="-5143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AutoNum type="arabicPeriod"/>
            </a:pPr>
            <a:r>
              <a:rPr lang="en-SG" sz="2590" dirty="0"/>
              <a:t>OCBC Bank subsidiary are:</a:t>
            </a:r>
            <a:endParaRPr sz="2220"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dirty="0"/>
              <a:t>OCBC Securities private limited (OSPL)</a:t>
            </a:r>
            <a:endParaRPr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Great eastern holdings</a:t>
            </a:r>
            <a:endParaRPr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OCBC Wing Hang</a:t>
            </a:r>
            <a:endParaRPr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Lion global investors</a:t>
            </a:r>
            <a:endParaRPr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Bank of Singapore</a:t>
            </a:r>
            <a:endParaRPr sz="2220"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OCBC NISP</a:t>
            </a:r>
            <a:endParaRPr sz="2220" dirty="0"/>
          </a:p>
          <a:p>
            <a:pPr marL="971550" lvl="1" indent="-51435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AutoNum type="alphaLcParenR"/>
            </a:pPr>
            <a:r>
              <a:rPr lang="en-SG" sz="2220" dirty="0"/>
              <a:t>Pac Lease</a:t>
            </a:r>
            <a:endParaRPr sz="2220" dirty="0"/>
          </a:p>
          <a:p>
            <a:pPr marL="514350" lvl="0" indent="-34988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endParaRPr sz="259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6919-2381-491C-A54F-6F2BFF5E5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992" y="355917"/>
            <a:ext cx="307657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838200" y="2940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50"/>
              <a:buNone/>
            </a:pPr>
            <a:r>
              <a:rPr lang="en-SG" sz="4000"/>
              <a:t>Technology Information Security Office (TISO)</a:t>
            </a:r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SG" sz="2000" dirty="0"/>
              <a:t>TISO previously known as Information Security Office</a:t>
            </a:r>
            <a:endParaRPr dirty="0"/>
          </a:p>
          <a:p>
            <a:pPr marL="514350" lvl="0" indent="-5143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SG" sz="2000" dirty="0"/>
              <a:t>Importance of TISO to the OCBC Group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SG" sz="2400" dirty="0"/>
              <a:t>	</a:t>
            </a:r>
            <a:r>
              <a:rPr lang="en-SG" sz="2000" dirty="0"/>
              <a:t>OCBC is 1 of the 11 Critical Information Infra in Singapore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	Safeguard the group’s assets from cyber threats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	(Citizens assets, Singapore reputation, government/business transactions, 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	data of Singapore wealth)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 sz="2000"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Confidentiality = Sensitive data being exposed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Integrity = Transaction data being manipulated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Availability = System/ Network down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 sz="2000"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r>
              <a:rPr lang="en-SG" sz="2000" dirty="0"/>
              <a:t>We are the most critical cost centre to the group! We safeguard the bank license!</a:t>
            </a:r>
            <a:endParaRPr dirty="0"/>
          </a:p>
          <a:p>
            <a:pPr marL="4572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</a:pPr>
            <a:endParaRPr sz="2000" dirty="0"/>
          </a:p>
        </p:txBody>
      </p:sp>
      <p:pic>
        <p:nvPicPr>
          <p:cNvPr id="98" name="Google Shape;98;p4" descr="Image result for confidentiality integrity authorization"/>
          <p:cNvPicPr preferRelativeResize="0"/>
          <p:nvPr/>
        </p:nvPicPr>
        <p:blipFill rotWithShape="1">
          <a:blip r:embed="rId3">
            <a:alphaModFix/>
          </a:blip>
          <a:srcRect l="9218" t="33208" r="53507" b="14420"/>
          <a:stretch/>
        </p:blipFill>
        <p:spPr>
          <a:xfrm>
            <a:off x="9457198" y="2753359"/>
            <a:ext cx="2612882" cy="2753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Capabilities within TISO</a:t>
            </a:r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24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Cyber Defence Team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Penetration Test and Vulnerability Scan Team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Project Review Team 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Red Team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Cyber Security Engineering Team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Cyber Security Project Team</a:t>
            </a:r>
            <a:endParaRPr dirty="0"/>
          </a:p>
          <a:p>
            <a:pPr marL="5715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SG" dirty="0"/>
              <a:t>Cyber Threat Intelligence</a:t>
            </a:r>
            <a:endParaRPr dirty="0"/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My internship role </a:t>
            </a:r>
            <a:endParaRPr/>
          </a:p>
        </p:txBody>
      </p:sp>
      <p:sp>
        <p:nvSpPr>
          <p:cNvPr id="110" name="Google Shape;11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SG" dirty="0"/>
              <a:t>Cyber Threat Intelligence role is to review cyber threats for the Cybersecurity Operation Centre and Cyber Defence.</a:t>
            </a:r>
            <a:br>
              <a:rPr lang="en-SG" dirty="0"/>
            </a:b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SG" dirty="0"/>
              <a:t>To provide intelligence on new cyber threats, vulnerabilities, tactics and procedures used by cyber threat agents.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efining threat intelligence?&#10;SOURCE: Centre for the Protection of National Infrastructure â UK Government&#10; ">
            <a:extLst>
              <a:ext uri="{FF2B5EF4-FFF2-40B4-BE49-F238E27FC236}">
                <a16:creationId xmlns:a16="http://schemas.microsoft.com/office/drawing/2014/main" id="{F0B03988-4DA7-4222-9880-F57DF504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1955" y="643466"/>
            <a:ext cx="742808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6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63" y="246625"/>
            <a:ext cx="8477474" cy="63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5" y="823752"/>
            <a:ext cx="8258175" cy="52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Self-reflection</a:t>
            </a:r>
            <a:endParaRPr/>
          </a:p>
        </p:txBody>
      </p:sp>
      <p:graphicFrame>
        <p:nvGraphicFramePr>
          <p:cNvPr id="126" name="Google Shape;126;p9"/>
          <p:cNvGraphicFramePr/>
          <p:nvPr/>
        </p:nvGraphicFramePr>
        <p:xfrm>
          <a:off x="952500" y="2667000"/>
          <a:ext cx="10287000" cy="1584840"/>
        </p:xfrm>
        <a:graphic>
          <a:graphicData uri="http://schemas.openxmlformats.org/drawingml/2006/table">
            <a:tbl>
              <a:tblPr>
                <a:noFill/>
                <a:tableStyleId>{34CDEC8F-6DC2-42C6-9243-4469F29CBC45}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/>
                        <a:t>Strength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/>
                        <a:t>Personal development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322200" y="122088"/>
            <a:ext cx="3547600" cy="97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SG" dirty="0"/>
              <a:t>Conclusion </a:t>
            </a:r>
            <a:endParaRPr dirty="0"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-167" y="6492300"/>
            <a:ext cx="12192000" cy="365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fld id="{00000000-1234-1234-1234-123412341234}" type="slidenum">
              <a:rPr lang="en"/>
              <a:pPr algn="ctr"/>
              <a:t>11</a:t>
            </a:fld>
            <a:endParaRPr/>
          </a:p>
        </p:txBody>
      </p:sp>
      <p:sp>
        <p:nvSpPr>
          <p:cNvPr id="6" name="Google Shape;132;p10">
            <a:extLst>
              <a:ext uri="{FF2B5EF4-FFF2-40B4-BE49-F238E27FC236}">
                <a16:creationId xmlns:a16="http://schemas.microsoft.com/office/drawing/2014/main" id="{12B5F6D5-87C9-41DC-AEF7-99DFA4081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SG" dirty="0"/>
              <a:t>I gain a lot of invaluable experience.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SG" dirty="0"/>
              <a:t>I learnt work skills from colleague teaching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SG" dirty="0"/>
              <a:t>Since Week 1, a slow progression of personal growth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 result for stock q&amp;a wallpaper">
            <a:extLst>
              <a:ext uri="{FF2B5EF4-FFF2-40B4-BE49-F238E27FC236}">
                <a16:creationId xmlns:a16="http://schemas.microsoft.com/office/drawing/2014/main" id="{37ACB8F9-71ED-43D6-8E24-08D545ECA5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6" b="16826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</Words>
  <Application>Microsoft Office PowerPoint</Application>
  <PresentationFormat>Widescreen</PresentationFormat>
  <Paragraphs>51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Agenda</vt:lpstr>
      <vt:lpstr>PowerPoint Presentation</vt:lpstr>
      <vt:lpstr>Technology Information Security Office (TISO)</vt:lpstr>
      <vt:lpstr>Capabilities within TISO</vt:lpstr>
      <vt:lpstr>My internship role </vt:lpstr>
      <vt:lpstr>PowerPoint Presentation</vt:lpstr>
      <vt:lpstr>PowerPoint Presentation</vt:lpstr>
      <vt:lpstr>PowerPoint Presentation</vt:lpstr>
      <vt:lpstr>Self-reflection</vt:lpstr>
      <vt:lpstr>Conclusion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 ZI JUN, JEREMY</dc:creator>
  <cp:lastModifiedBy>ANG ZI JUN, JEREMY</cp:lastModifiedBy>
  <cp:revision>1</cp:revision>
  <dcterms:created xsi:type="dcterms:W3CDTF">2019-05-30T06:34:43Z</dcterms:created>
  <dcterms:modified xsi:type="dcterms:W3CDTF">2019-05-30T06:37:11Z</dcterms:modified>
</cp:coreProperties>
</file>